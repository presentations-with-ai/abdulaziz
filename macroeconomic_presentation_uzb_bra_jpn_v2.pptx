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8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
- В листе Import для Японии отсутствует значение за 2024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
- Показатель бедности в файле задан по national poverty lines, а не по международной черте $3/day.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spreadsheet: Data from World Bank.xlsx
- User-provided example deck: Макроэкономический анализ _ Узбекистан · Ирак · Литва.pptx (visual style reference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FABC7-AD02-4AA7-9FEB-E3E5CFAE5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9CEFDD-0D69-4807-8B7C-0894A6A99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5E378A-C48C-4E59-881A-26EB0CE9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82442-A816-4830-B681-BC2E4CAE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E64D85-3C7E-45D8-8A8F-F455CCD5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105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A26DB-11BE-44DC-8CBC-4731ED7E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17750-DACB-4824-98F1-E50A55E8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AE4139-E87F-4E5F-B12A-F96A7695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D1DB71-EDC2-4F7C-9216-238503DA5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59102D-FAC0-45AB-8CB7-ABD0721A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173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00288-73BB-4CE9-8AD3-DC8328B7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63CBDB-0448-4A1B-9CD5-DD1CC2E2E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A0D337-B71E-477E-BBA3-824FFAEA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436633-9C40-44C6-9A59-32070AF0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6F4B7E-0240-4C63-A9B0-82BDC931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8274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9878DF-BF7B-492C-AFDD-C494976F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7D1A8-9157-4AC9-A953-D1EBF6A85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2AA84A-F2F1-4780-9D01-77071BF90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9A353A-5E9A-4128-A1D3-F7ECDD8D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94B04A-4056-4DC0-87CF-EC0E135E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58B1B4-2A1B-41B3-8998-178A5302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4061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6C9CD-369A-4965-AEBF-1B07B799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17D952-612D-43DC-99F3-C95DA606A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F300DB-1AFF-4D2C-8E27-34699451B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29DA95E-A1A7-4784-9BDD-7171874BA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B9BFD2-DBBD-4045-900A-5FDDF59A1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A37EEB-682C-4AE6-AFBC-F0E14126C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530EB0-49F4-4973-8A95-18BB5B42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D69E4A8-BB56-49EC-89E8-A67974D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5528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DA02C-F410-4B53-8724-19C17ABD8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AC119D-98C9-4915-A266-2D7D29F3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922B87-6D0E-4FA9-BCB1-0466B5C4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AA290A-92AF-4170-B4F2-70E3E67E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50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365D33-28FD-414E-9158-21F75A18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39090A4-A9CF-4A96-BA3D-5815DE67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393273-7A0C-4C1D-B9C3-EE424620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043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58DC2-50CB-44C8-8C87-188ABCB8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320745-7C2E-4A66-9148-A7F4E51F8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38243D-1656-45DD-827A-6D336527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335F2F-8195-4B8D-86F9-64F5ABA2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FE765E-A97B-4F58-8C6C-9943EAB21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35D11B-A394-4890-94FC-C2541F23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18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47C896-541D-4FA5-81DE-981AF1917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590355-BC87-440B-A1E9-E893B4D29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057AB3B-7ACF-442D-97D8-D07EA6F3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2ABE08-D230-4B59-B4F2-06EB5873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60968-6DA4-4DEE-9C09-E38795D2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7364D2-9CC7-4B66-B41A-49447880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3045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720E4-08E8-4884-A26F-9D30EE65B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5C7F17-967D-4FA7-B021-451370749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1BA1FD-3EF3-49F0-93D6-FD4610F83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CA745D-78B7-45FB-9AFB-432926ED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47AA04-E182-4520-933A-065F2D7B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687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BE79F8-FC1D-43FA-A330-EF38F006D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A760F66-B78E-453B-AB53-3DFA9672F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E7A342-071C-4ECC-B52C-D28B617A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DE7D7F-6B15-45E4-A99E-833700B7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1C04C0-39DE-43C4-A0A5-DA668878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7632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37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F78471-2084-4A48-A2E2-5DFF45D9A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C158A-E0B8-46FE-973A-947AAE79B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83DCB3-732F-41D5-B696-5A9297A5C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3/7/2026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F16A49-7F21-48DF-87F7-AB8216508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06F0CB-078A-4EF8-A4BA-C8FFC31A4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5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868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B"/>
                </a:solidFill>
              </a:rPr>
              <a:t>Сравнительный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4F7FB"/>
                </a:solidFill>
              </a:rPr>
              <a:t>анализ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68680" y="1874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макроэкономическ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их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показателей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78992" y="3456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880" dirty="0">
                <a:solidFill>
                  <a:srgbClr val="9AA8BD"/>
                </a:solidFill>
              </a:rPr>
              <a:t>П</a:t>
            </a:r>
            <a:r>
              <a:rPr lang="en-US" sz="880" dirty="0" err="1">
                <a:solidFill>
                  <a:srgbClr val="9AA8BD"/>
                </a:solidFill>
              </a:rPr>
              <a:t>резентация</a:t>
            </a:r>
            <a:r>
              <a:rPr lang="en-US" sz="880" dirty="0">
                <a:solidFill>
                  <a:srgbClr val="9AA8BD"/>
                </a:solidFill>
              </a:rPr>
              <a:t> по данным World Bank WDI</a:t>
            </a:r>
            <a:endParaRPr lang="en-US" sz="88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9AA8BD"/>
                </a:solidFill>
              </a:rPr>
              <a:t>Узбекистан · Бразилия · Япония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15568" y="4096512"/>
            <a:ext cx="987552" cy="164592"/>
          </a:xfrm>
          <a:prstGeom prst="rect">
            <a:avLst/>
          </a:prstGeom>
          <a:solidFill>
            <a:srgbClr val="0E1628"/>
          </a:solidFill>
          <a:ln w="12700">
            <a:solidFill>
              <a:srgbClr val="22C55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22C55E"/>
                </a:solidFill>
              </a:rPr>
              <a:t>● </a:t>
            </a:r>
            <a:r>
              <a:rPr lang="en-US" sz="740" dirty="0">
                <a:solidFill>
                  <a:srgbClr val="F4F7FB"/>
                </a:solidFill>
              </a:rPr>
              <a:t>Узбекистан</a:t>
            </a:r>
            <a:endParaRPr lang="en-US" sz="740" dirty="0"/>
          </a:p>
        </p:txBody>
      </p:sp>
      <p:sp>
        <p:nvSpPr>
          <p:cNvPr id="6" name="Text 4"/>
          <p:cNvSpPr/>
          <p:nvPr/>
        </p:nvSpPr>
        <p:spPr>
          <a:xfrm>
            <a:off x="2258568" y="4096512"/>
            <a:ext cx="987552" cy="164592"/>
          </a:xfrm>
          <a:prstGeom prst="rect">
            <a:avLst/>
          </a:prstGeom>
          <a:solidFill>
            <a:srgbClr val="0E1628"/>
          </a:solidFill>
          <a:ln w="12700"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97316"/>
                </a:solidFill>
              </a:rPr>
              <a:t>● </a:t>
            </a:r>
            <a:r>
              <a:rPr lang="en-US" sz="740" dirty="0">
                <a:solidFill>
                  <a:srgbClr val="F4F7FB"/>
                </a:solidFill>
              </a:rPr>
              <a:t>Бразилия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3401568" y="4096512"/>
            <a:ext cx="987552" cy="164592"/>
          </a:xfrm>
          <a:prstGeom prst="rect">
            <a:avLst/>
          </a:prstGeom>
          <a:solidFill>
            <a:srgbClr val="0E1628"/>
          </a:solidFill>
          <a:ln w="12700">
            <a:solidFill>
              <a:srgbClr val="60A5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0A5FA"/>
                </a:solidFill>
              </a:rPr>
              <a:t>● </a:t>
            </a:r>
            <a:r>
              <a:rPr lang="en-US" sz="740" dirty="0">
                <a:solidFill>
                  <a:srgbClr val="F4F7FB"/>
                </a:solidFill>
              </a:rPr>
              <a:t>Япония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6499860" y="960120"/>
            <a:ext cx="4297680" cy="731520"/>
          </a:xfrm>
          <a:prstGeom prst="rect">
            <a:avLst/>
          </a:prstGeom>
          <a:solidFill>
            <a:srgbClr val="0E1628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Источник
</a:t>
            </a:r>
            <a:r>
              <a:rPr lang="en-US" sz="1300" dirty="0">
                <a:solidFill>
                  <a:srgbClr val="F4F7FB"/>
                </a:solidFill>
              </a:rPr>
              <a:t>World Bank WDI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921240" y="1911096"/>
            <a:ext cx="1280160" cy="594360"/>
          </a:xfrm>
          <a:prstGeom prst="rect">
            <a:avLst/>
          </a:prstGeom>
          <a:solidFill>
            <a:srgbClr val="0E1628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Период
</a:t>
            </a:r>
            <a:r>
              <a:rPr lang="en-US" sz="1400" dirty="0">
                <a:solidFill>
                  <a:srgbClr val="F4F7FB"/>
                </a:solidFill>
              </a:rPr>
              <a:t>2015–2024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49640" y="1911096"/>
            <a:ext cx="1143000" cy="594360"/>
          </a:xfrm>
          <a:prstGeom prst="rect">
            <a:avLst/>
          </a:prstGeom>
          <a:solidFill>
            <a:srgbClr val="0E1628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Показатели
</a:t>
            </a:r>
            <a:r>
              <a:rPr lang="en-US" sz="1400" dirty="0">
                <a:solidFill>
                  <a:srgbClr val="F4F7FB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0" y="1911096"/>
            <a:ext cx="2194560" cy="594360"/>
          </a:xfrm>
          <a:prstGeom prst="rect">
            <a:avLst/>
          </a:prstGeom>
          <a:solidFill>
            <a:srgbClr val="0E1628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ru-RU" sz="1000" b="1" dirty="0">
                <a:solidFill>
                  <a:srgbClr val="F59E0B"/>
                </a:solidFill>
              </a:rPr>
              <a:t>Студент</a:t>
            </a:r>
            <a:r>
              <a:rPr lang="en-US" sz="1000" b="1" dirty="0">
                <a:solidFill>
                  <a:srgbClr val="F59E0B"/>
                </a:solidFill>
              </a:rPr>
              <a:t>
</a:t>
            </a:r>
            <a:r>
              <a:rPr lang="ru-RU" sz="1200" dirty="0" err="1">
                <a:solidFill>
                  <a:srgbClr val="F4F7FB"/>
                </a:solidFill>
              </a:rPr>
              <a:t>Абдугаффоров</a:t>
            </a:r>
            <a:r>
              <a:rPr lang="ru-RU" sz="1200" dirty="0">
                <a:solidFill>
                  <a:srgbClr val="F4F7FB"/>
                </a:solidFill>
              </a:rPr>
              <a:t> Абдулазиз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48400" y="2679192"/>
            <a:ext cx="4800600" cy="1024128"/>
          </a:xfrm>
          <a:prstGeom prst="rect">
            <a:avLst/>
          </a:prstGeom>
          <a:solidFill>
            <a:srgbClr val="0B1220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Главная идея
</a:t>
            </a:r>
            <a:r>
              <a:rPr lang="en-US" sz="1300" dirty="0">
                <a:solidFill>
                  <a:srgbClr val="F4F7FB"/>
                </a:solidFill>
              </a:rPr>
              <a:t>Япония лидирует по масштабу и внешнему балансу.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7FB"/>
                </a:solidFill>
              </a:rPr>
              <a:t>Узбекистан лидирует по темпам роста.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4F7FB"/>
                </a:solidFill>
              </a:rPr>
              <a:t>Бразилия занимает промежуточное положение.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48400" y="3904489"/>
            <a:ext cx="4800600" cy="896112"/>
          </a:xfrm>
          <a:prstGeom prst="rect">
            <a:avLst/>
          </a:prstGeom>
          <a:solidFill>
            <a:srgbClr val="0E1628"/>
          </a:solidFill>
          <a:ln w="12700">
            <a:solidFill>
              <a:srgbClr val="3A465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Структура
</a:t>
            </a:r>
            <a:r>
              <a:rPr lang="en-US" sz="1300" dirty="0">
                <a:solidFill>
                  <a:srgbClr val="F4F7FB"/>
                </a:solidFill>
              </a:rPr>
              <a:t>ВВП · рост · безработица · инфляция · торговля · счёт текущих операций · бедность · выводы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625449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869B"/>
                </a:solidFill>
              </a:rPr>
              <a:t>Макроэкономика · World Bank WDI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01 — ВВП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Номинальный </a:t>
            </a: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ВВП и ВВП по ППС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Совокупная стоимость произведённых товаров и услуг в текущих ценах и по ППС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Номинальный ВВП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85800" y="1344168"/>
            <a:ext cx="5074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млрд USD, 2015–2024</a:t>
            </a:r>
            <a:endParaRPr lang="en-US" sz="680" dirty="0"/>
          </a:p>
        </p:txBody>
      </p:sp>
      <p:pic>
        <p:nvPicPr>
          <p:cNvPr id="7" name="Image 0" descr="/mnt/data/macro_ppt_assets/gdp_no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871644"/>
            <a:ext cx="5230368" cy="238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55080" y="1188720"/>
            <a:ext cx="5074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ВВП по ППС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355080" y="1344168"/>
            <a:ext cx="5074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млрд международных $, 2015–2024</a:t>
            </a:r>
            <a:endParaRPr lang="en-US" sz="680" dirty="0"/>
          </a:p>
        </p:txBody>
      </p:sp>
      <p:pic>
        <p:nvPicPr>
          <p:cNvPr id="10" name="Image 1" descr="/mnt/data/macro_ppt_assets/gdp_p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871644"/>
            <a:ext cx="5230368" cy="238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321808"/>
            <a:ext cx="11018520" cy="713232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</a:t>
            </a: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Аналитический комментарий — ВВП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Япония остаётся крупнейшей экономикой по обоим агрегатам: номинальный ВВП в 2024 году — около $4027.6 млрд, ВВП по ППС — $6407.7 млрд. Бразилия идёт второй, а Узбекистан — намного меньше по масштабу, но показывает самый большой разрыв между номинальным ВВП и ППС.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02 — Темп роста ВВП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Динамика экономического роста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Ежегодный прирост реального ВВП, %, 2015–2024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Темп роста ВВП (%)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Реальный прирост, постоянные цены</a:t>
            </a:r>
            <a:endParaRPr lang="en-US" sz="680" dirty="0"/>
          </a:p>
        </p:txBody>
      </p:sp>
      <p:pic>
        <p:nvPicPr>
          <p:cNvPr id="7" name="Image 0" descr="/mnt/data/macro_ppt_assets/gdp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763" y="1444752"/>
            <a:ext cx="7224569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Рост ВВП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Узбекистан показывает наиболее устойчивую положительную динамику: рост остаётся положительным во все годы и достигает 6.5% в 2024 году. Бразилия переживает рецессии в 2015–2016 годах и спад в 2020-м, после чего возвращается к умеренному росту. Япония остаётся зрелой низкорослой экономикой: её темпы в основном колеблются около 0–2%.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03 — Безработица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Уровень безработицы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Доля безработных от общей рабочей силы (оценка МОТ), 2015–2024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Уровень безработицы (%)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2015–2024</a:t>
            </a:r>
            <a:endParaRPr lang="en-US" sz="680" dirty="0"/>
          </a:p>
        </p:txBody>
      </p:sp>
      <p:pic>
        <p:nvPicPr>
          <p:cNvPr id="7" name="Image 0" descr="/mnt/data/macro_ppt_assets/unem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38681"/>
            <a:ext cx="6812280" cy="31039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8120" y="1152144"/>
            <a:ext cx="374904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Сводка по безработице
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18120" y="1627632"/>
            <a:ext cx="3749040" cy="713232"/>
          </a:xfrm>
          <a:prstGeom prst="rect">
            <a:avLst/>
          </a:prstGeom>
          <a:solidFill>
            <a:srgbClr val="102038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Узбекистан
</a:t>
            </a: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Мин: 4.46%   Макс: 5.83%</a:t>
            </a:r>
            <a:endParaRPr lang="en-US" sz="90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Среднее: 5.06%   2024: 4.49%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18120" y="2468880"/>
            <a:ext cx="3749040" cy="713232"/>
          </a:xfrm>
          <a:prstGeom prst="rect">
            <a:avLst/>
          </a:prstGeom>
          <a:solidFill>
            <a:srgbClr val="102038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97316"/>
                </a:solidFill>
                <a:ea typeface="Aptos" pitchFamily="34" charset="-122"/>
                <a:cs typeface="Aptos" pitchFamily="34" charset="-120"/>
              </a:rPr>
              <a:t>Бразилия
</a:t>
            </a: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Мин: 7.63%   Макс: 13.70%</a:t>
            </a:r>
            <a:endParaRPr lang="en-US" sz="90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Среднее: 10.88%   2024: 7.63%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18120" y="3310128"/>
            <a:ext cx="3749040" cy="713232"/>
          </a:xfrm>
          <a:prstGeom prst="rect">
            <a:avLst/>
          </a:prstGeom>
          <a:solidFill>
            <a:srgbClr val="102038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60A5FA"/>
                </a:solidFill>
                <a:ea typeface="Aptos" pitchFamily="34" charset="-122"/>
                <a:cs typeface="Aptos" pitchFamily="34" charset="-120"/>
              </a:rPr>
              <a:t>Япония
</a:t>
            </a: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Мин: 2.35%   Макс: 3.38%</a:t>
            </a:r>
            <a:endParaRPr lang="en-US" sz="900" dirty="0"/>
          </a:p>
          <a:p>
            <a:pPr marL="0" indent="0" algn="ctr">
              <a:buNone/>
            </a:pPr>
            <a:r>
              <a:rPr lang="en-US" sz="88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Среднее: 2.75%   2024: 2.56%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Безработица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Самый низкий уровень безработицы на всём промежутке наблюдается в Японии: 2.56% в 2024 году. Узбекистан держится в диапазоне около 4.5–5.8% без резких скачков. Бразилия заметно хуже по рынку труда: после пика 13.7% в 2020 году показатель снижается, но в 2024-м всё ещё составляет 7.63%.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04 — Инфляция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Индекс потребительских цен (CPI)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Годовое изменение уровня потребительских цен, %, 2015–2024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Инфляция CPI (%)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Consumer prices, annual %</a:t>
            </a:r>
            <a:endParaRPr lang="en-US" sz="680" dirty="0"/>
          </a:p>
        </p:txBody>
      </p:sp>
      <p:pic>
        <p:nvPicPr>
          <p:cNvPr id="7" name="Image 0" descr="/mnt/data/macro_ppt_assets/inf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763" y="1444752"/>
            <a:ext cx="7224569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Инфляция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Узбекистан на всём отрезке демонстрирует самую высокую инфляцию — в основном в диапазоне 8–18% в год. Бразилия проходит через период дезинфляции, затем снова сталкивается с ускорением в 2021–2022 годах и приходит к 4.37% в 2024 году. Япония почти весь период находится около нуля; заметный рост цен начинается только после 2022 года.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05 — Внешняя торговля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Экспорт и импорт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Торговый контур экономики, млрд USD, 2015–2024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Экспорт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Товары и услуги, млрд USD</a:t>
            </a:r>
            <a:endParaRPr lang="en-US" sz="680" dirty="0"/>
          </a:p>
        </p:txBody>
      </p:sp>
      <p:pic>
        <p:nvPicPr>
          <p:cNvPr id="7" name="Image 0" descr="/mnt/data/macro_ppt_assets/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99076"/>
            <a:ext cx="5230368" cy="238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45936" y="117043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Импорт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345936" y="1325880"/>
            <a:ext cx="5029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Товары и услуги, млрд USD</a:t>
            </a:r>
            <a:endParaRPr lang="en-US" sz="680" dirty="0"/>
          </a:p>
        </p:txBody>
      </p:sp>
      <p:pic>
        <p:nvPicPr>
          <p:cNvPr id="10" name="Image 1" descr="/mnt/data/macro_ppt_assets/im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99076"/>
            <a:ext cx="5230368" cy="23831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Торговля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Япония лидирует по абсолютному объёму внешней торговли: экспорт держится около $900 млрд, импорт волатилен и в файле отсутствует значение за 2024 год. Бразилия занимает уверенное второе место по торговому обороту. Узбекистан быстро наращивает и экспорт, и импорт, однако импорт растёт быстрее, что усиливает давление на внешний баланс.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05 — Внешняя торговля (продолжение)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Счёт текущих операций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Профицит (+) / дефицит (-) в % от ВВП, 2015–2024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10241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Счёт текущих операций (% ВВП)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10241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Профицит (+) / дефицит (-), 2015–2024</a:t>
            </a:r>
            <a:endParaRPr lang="en-US" sz="680" dirty="0"/>
          </a:p>
        </p:txBody>
      </p:sp>
      <p:pic>
        <p:nvPicPr>
          <p:cNvPr id="7" name="Image 0" descr="/mnt/data/macro_ppt_assets/current_ac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763" y="1444752"/>
            <a:ext cx="7224569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Счёт текущих операций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Япония на всём промежутке остаётся в положительной зоне и завершает 2024 год с профицитом 4.82% ВВП. Бразилия держится в умеренном дефиците почти весь период. Узбекистан после 2018 года демонстрирует устойчиво отрицательный счёт текущих операций, а в 2023 году дефицит достигает 7.6% ВВП.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06 — Бедность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Доля населения за чертой бедности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Poverty headcount ratio at national poverty lines; доступны не все годы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170432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4F7FB"/>
                </a:solidFill>
              </a:rPr>
              <a:t>Уровень бедности (%)</a:t>
            </a:r>
            <a:endParaRPr lang="en-US" sz="960" dirty="0"/>
          </a:p>
        </p:txBody>
      </p:sp>
      <p:sp>
        <p:nvSpPr>
          <p:cNvPr id="6" name="Text 4"/>
          <p:cNvSpPr/>
          <p:nvPr/>
        </p:nvSpPr>
        <p:spPr>
          <a:xfrm>
            <a:off x="676656" y="1325880"/>
            <a:ext cx="6400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AA8BD"/>
                </a:solidFill>
              </a:rPr>
              <a:t>National poverty lines, доступные годы</a:t>
            </a:r>
            <a:endParaRPr lang="en-US" sz="680" dirty="0"/>
          </a:p>
        </p:txBody>
      </p:sp>
      <p:pic>
        <p:nvPicPr>
          <p:cNvPr id="7" name="Image 0" descr="/mnt/data/macro_ppt_assets/pove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38681"/>
            <a:ext cx="6812280" cy="31039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8120" y="1152144"/>
            <a:ext cx="3749040" cy="384048"/>
          </a:xfrm>
          <a:prstGeom prst="rect">
            <a:avLst/>
          </a:prstGeom>
          <a:solidFill>
            <a:srgbClr val="0B1220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Ключевые факты
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18120" y="1627632"/>
            <a:ext cx="3749040" cy="713232"/>
          </a:xfrm>
          <a:prstGeom prst="rect">
            <a:avLst/>
          </a:prstGeom>
          <a:solidFill>
            <a:srgbClr val="102037"/>
          </a:solidFill>
          <a:ln w="12700">
            <a:solidFill>
              <a:srgbClr val="22C55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Узбекистан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20.6% в 2023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На последних доступных наблюдениях показатель снижается: 22.1 → 20.8 → 20.6.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18120" y="2468880"/>
            <a:ext cx="3749040" cy="713232"/>
          </a:xfrm>
          <a:prstGeom prst="rect">
            <a:avLst/>
          </a:prstGeom>
          <a:solidFill>
            <a:srgbClr val="29180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ea typeface="Aptos" pitchFamily="34" charset="-122"/>
                <a:cs typeface="Aptos" pitchFamily="34" charset="-120"/>
              </a:rPr>
              <a:t>Бразилия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27.0% в 2023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После просадки в 2020 году показатель снова вырос.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18120" y="3310128"/>
            <a:ext cx="3749040" cy="713232"/>
          </a:xfrm>
          <a:prstGeom prst="rect">
            <a:avLst/>
          </a:prstGeom>
          <a:solidFill>
            <a:srgbClr val="0F1E36"/>
          </a:solidFill>
          <a:ln w="12700">
            <a:solidFill>
              <a:srgbClr val="60A5F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ea typeface="Aptos" pitchFamily="34" charset="-122"/>
                <a:cs typeface="Aptos" pitchFamily="34" charset="-120"/>
              </a:rPr>
              <a:t>Япония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15.5% в 2020</a:t>
            </a:r>
            <a:endParaRPr lang="en-US" sz="9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После 2020 года в загруженном файле наблюдений нет.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5285232"/>
            <a:ext cx="11018520" cy="749808"/>
          </a:xfrm>
          <a:prstGeom prst="rect">
            <a:avLst/>
          </a:prstGeom>
          <a:solidFill>
            <a:srgbClr val="0B1220"/>
          </a:solidFill>
          <a:ln w="12700">
            <a:solidFill>
              <a:srgbClr val="7A5C1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⚠ Аналитический комментарий — Бедность
</a:t>
            </a:r>
            <a:r>
              <a:rPr lang="en-US" sz="880" dirty="0">
                <a:solidFill>
                  <a:srgbClr val="C7D1DE"/>
                </a:solidFill>
                <a:ea typeface="Aptos" pitchFamily="34" charset="-122"/>
                <a:cs typeface="Aptos" pitchFamily="34" charset="-120"/>
              </a:rPr>
              <a:t>Этот показатель в загруженном файле задан по national poverty lines, поэтому для жёсткого межстранового сравнения он ограниченно сопоставим. Внутри рядов видно, что у Узбекистана последние значения снижаются, Бразилия остаётся на более высоком уровне, а по Японии после 2020 года данных нет.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07 — Выводы и рекомендации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Узбекистан — экономика быстрого роста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Сильные стороны, слабые стороны и предложения по экономической политике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Сильные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Самый высокий и наиболее устойчивый рост ВВП: 6.5% в 2024 году.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Безработица заметно ниже бразильской и держится около 4.5–5.8%.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Быстрый рост экспорта и заметное увеличение ВВП по ППС.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81344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ea typeface="Aptos" pitchFamily="34" charset="-122"/>
                <a:cs typeface="Aptos" pitchFamily="34" charset="-120"/>
              </a:rPr>
              <a:t>Слабые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Инфляция остаётся самой высокой среди трёх стран: 9.63% в 2024 году.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Текущий счёт после 2018 года устойчиво дефицитный.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Абсолютный масштаб экономики пока существенно уступает Бразилии и Японии.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11018520" cy="384048"/>
          </a:xfrm>
          <a:prstGeom prst="rect">
            <a:avLst/>
          </a:prstGeom>
          <a:solidFill>
            <a:srgbClr val="0B1B17"/>
          </a:solidFill>
          <a:ln w="12700">
            <a:solidFill>
              <a:srgbClr val="0F5F4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Рекомендации по экономической политике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Монетарная политика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Снижать инфляцию до устойчиво однозначного диапазона и укреплять предсказуемость цен.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5876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Экспортная база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Развивать отрасли с высокой добавленной стоимостью и уменьшать зависимость от импорта.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060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Внешний баланс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Сдерживать расширение дефицита текущего счёта за счёт роста конкурентоспособного экспорта.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07 — Выводы и рекомендации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Бразилия — крупная, но цикличная экономика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Сильные стороны, слабые стороны и предложения по экономической политике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Сильные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Крупный ВВП и второй масштаб экономики среди трёх стран.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Экспортная база расширилась: экспорт вырос до $392.1 млрд в 2024 году.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Рынок труда улучшился после шока 2020 года: безработица снизилась до 7.63%.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81344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ea typeface="Aptos" pitchFamily="34" charset="-122"/>
                <a:cs typeface="Aptos" pitchFamily="34" charset="-120"/>
              </a:rPr>
              <a:t>Слабые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Экономический рост остаётся более волатильным, чем в Узбекистане и Японии.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Счёт текущих операций остаётся отрицательным почти весь период.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По national poverty lines показатель остаётся самым высоким из трёх.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11018520" cy="384048"/>
          </a:xfrm>
          <a:prstGeom prst="rect">
            <a:avLst/>
          </a:prstGeom>
          <a:solidFill>
            <a:srgbClr val="0B1B17"/>
          </a:solidFill>
          <a:ln w="12700">
            <a:solidFill>
              <a:srgbClr val="0F5F4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Рекомендации по экономической политике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Производительность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Нужны источники долгосрочного роста сверх циклических восстановлений.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5876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Рабочие места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Поддерживать снижение безработицы через инвестиции и устойчивый рост частного сектора.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060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Внешняя устойчивость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Сокращать структурный дефицит текущего счёта и повышать экспортную сложность.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07 — Выводы и рекомендации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 — крупнейшая и наиболее внешне устойчивая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Сильные стороны, слабые стороны и предложения по экономической политике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Сильные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Лидер по масштабу экономики: максимальные значения номинального ВВП и ВВП по ППС.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Самая низкая безработица: 2.56% в 2024 году.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Наиболее устойчивый внешний баланс: профицит текущего счёта 4.82% ВВП в 2024 году.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81344" y="1133856"/>
            <a:ext cx="5440680" cy="1828800"/>
          </a:xfrm>
          <a:prstGeom prst="rect">
            <a:avLst/>
          </a:prstGeom>
          <a:solidFill>
            <a:srgbClr val="0D1829"/>
          </a:solidFill>
          <a:ln w="12700">
            <a:solidFill>
              <a:srgbClr val="3A465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ea typeface="Aptos" pitchFamily="34" charset="-122"/>
                <a:cs typeface="Aptos" pitchFamily="34" charset="-120"/>
              </a:rPr>
              <a:t>Слабые стороны
</a:t>
            </a: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Темпы роста остаются самыми низкими среди трёх стран: 0.1% в 2024 году.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Номинальный ВВП после 2019 года не показывает восходящего тренда.</a:t>
            </a:r>
            <a:endParaRPr lang="en-US" sz="90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• Пространство для ускорения внутреннего роста ограничено.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11018520" cy="384048"/>
          </a:xfrm>
          <a:prstGeom prst="rect">
            <a:avLst/>
          </a:prstGeom>
          <a:solidFill>
            <a:srgbClr val="0B1B17"/>
          </a:solidFill>
          <a:ln w="12700">
            <a:solidFill>
              <a:srgbClr val="0F5F4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Рекомендации по экономической политике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Новый рост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Искать драйверы роста сверх традиционной модели медленного зрелого расширения.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5876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Инвестиции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Поддерживать внутренний спрос и производительность в высокотехнологичных секторах.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0608" y="3730752"/>
            <a:ext cx="2926080" cy="1280160"/>
          </a:xfrm>
          <a:prstGeom prst="rect">
            <a:avLst/>
          </a:prstGeom>
          <a:solidFill>
            <a:srgbClr val="0E1628"/>
          </a:solidFill>
          <a:ln w="12700">
            <a:solidFill>
              <a:srgbClr val="1A344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59E0B"/>
                </a:solidFill>
                <a:ea typeface="Aptos" pitchFamily="34" charset="-122"/>
                <a:cs typeface="Aptos" pitchFamily="34" charset="-120"/>
              </a:rPr>
              <a:t>Внешний сектор
</a:t>
            </a:r>
            <a:r>
              <a:rPr lang="en-US" sz="85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Сохранять сильный внешний баланс, не жертвуя темпами обновления экономики.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B5CF6"/>
                </a:solidFill>
              </a:rPr>
              <a:t>07 — Выводы и рекомендации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66928" y="4389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Итоговая сводная таблица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AA8BD"/>
                </a:solidFill>
              </a:rPr>
              <a:t>Сравнительный анализ ключевых макроэкономических показателей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76656" y="1225296"/>
            <a:ext cx="2272284" cy="397764"/>
          </a:xfrm>
          <a:prstGeom prst="rect">
            <a:avLst/>
          </a:prstGeom>
          <a:solidFill>
            <a:srgbClr val="121D32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Показатель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2962656" y="1225296"/>
            <a:ext cx="1888236" cy="397764"/>
          </a:xfrm>
          <a:prstGeom prst="rect">
            <a:avLst/>
          </a:prstGeom>
          <a:solidFill>
            <a:srgbClr val="121D32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22C55E"/>
                </a:solidFill>
                <a:ea typeface="Aptos" pitchFamily="34" charset="-122"/>
                <a:cs typeface="Aptos" pitchFamily="34" charset="-120"/>
              </a:rPr>
              <a:t>Узбекистан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4864608" y="1225296"/>
            <a:ext cx="1888236" cy="397764"/>
          </a:xfrm>
          <a:prstGeom prst="rect">
            <a:avLst/>
          </a:prstGeom>
          <a:solidFill>
            <a:srgbClr val="121D32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97316"/>
                </a:solidFill>
                <a:ea typeface="Aptos" pitchFamily="34" charset="-122"/>
                <a:cs typeface="Aptos" pitchFamily="34" charset="-120"/>
              </a:rPr>
              <a:t>Бразилия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766560" y="1225296"/>
            <a:ext cx="1888236" cy="397764"/>
          </a:xfrm>
          <a:prstGeom prst="rect">
            <a:avLst/>
          </a:prstGeom>
          <a:solidFill>
            <a:srgbClr val="121D32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60A5FA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668512" y="1225296"/>
            <a:ext cx="1467612" cy="397764"/>
          </a:xfrm>
          <a:prstGeom prst="rect">
            <a:avLst/>
          </a:prstGeom>
          <a:solidFill>
            <a:srgbClr val="121D32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Лидер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76656" y="1636776"/>
            <a:ext cx="2272284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Ном. ВВП 2024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62656" y="163677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$115.0 млрд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63677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$2185.8 млрд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66560" y="163677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$4027.6 млрд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68512" y="1636776"/>
            <a:ext cx="1467612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" y="2048256"/>
            <a:ext cx="2272284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ВВП ППС 2024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62656" y="204825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$431.9 млрд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608" y="204825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$4734.7 млрд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204825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$6407.7 млрд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68512" y="2048256"/>
            <a:ext cx="1467612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" y="2459736"/>
            <a:ext cx="2272284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Рост ВВП 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62656" y="245973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+6.5%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45973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+3.42%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45973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+0.1%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668512" y="2459736"/>
            <a:ext cx="1467612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Узбекистан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6656" y="2871216"/>
            <a:ext cx="2272284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Безработица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62656" y="287121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4.49%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287121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7.63%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287121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2.56%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68512" y="2871216"/>
            <a:ext cx="1467612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2272284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Инфляция 2024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62656" y="328269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9.63%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328269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4.37%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66560" y="328269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2.74%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68512" y="3282696"/>
            <a:ext cx="1467612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" y="3694176"/>
            <a:ext cx="2272284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Текущий счёт 2024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62656" y="369417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-4.97% ВВП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64608" y="369417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-3.03% ВВП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369417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+4.82% ВВП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68512" y="3694176"/>
            <a:ext cx="1467612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" y="4105656"/>
            <a:ext cx="2272284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Экспорт 2024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62656" y="410565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$26.2 млрд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64608" y="410565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$392.1 млрд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410565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$917.0 млрд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668512" y="4105656"/>
            <a:ext cx="1467612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" y="4517136"/>
            <a:ext cx="2272284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Бедность* (посл. год)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962656" y="451713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20.6% (2023)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64608" y="451713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27.0% (2023)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4517136"/>
            <a:ext cx="1888236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15.5% (2020)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68512" y="4517136"/>
            <a:ext cx="1467612" cy="397764"/>
          </a:xfrm>
          <a:prstGeom prst="rect">
            <a:avLst/>
          </a:prstGeom>
          <a:solidFill>
            <a:srgbClr val="0C1424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Япония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6656" y="4928616"/>
            <a:ext cx="2272284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Стабильность роста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62656" y="492861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Высокая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64608" y="492861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Низкая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66560" y="4928616"/>
            <a:ext cx="1888236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Средняя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68512" y="4928616"/>
            <a:ext cx="1467612" cy="397764"/>
          </a:xfrm>
          <a:prstGeom prst="rect">
            <a:avLst/>
          </a:prstGeom>
          <a:solidFill>
            <a:srgbClr val="0E1628"/>
          </a:solidFill>
          <a:ln w="12700">
            <a:solidFill>
              <a:srgbClr val="24304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4F7FB"/>
                </a:solidFill>
                <a:ea typeface="Aptos" pitchFamily="34" charset="-122"/>
                <a:cs typeface="Aptos" pitchFamily="34" charset="-120"/>
              </a:rPr>
              <a:t>Узбекистан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86384" y="5852160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9AA8BD"/>
                </a:solidFill>
              </a:rPr>
              <a:t>Источник: World Bank WDI </a:t>
            </a:r>
            <a:endParaRPr lang="en-US" sz="730" dirty="0"/>
          </a:p>
        </p:txBody>
      </p:sp>
      <p:sp>
        <p:nvSpPr>
          <p:cNvPr id="57" name="Text 55"/>
          <p:cNvSpPr/>
          <p:nvPr/>
        </p:nvSpPr>
        <p:spPr>
          <a:xfrm>
            <a:off x="11539728" y="64190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39A"/>
                </a:solidFill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1862</Words>
  <Application>Microsoft Office PowerPoint</Application>
  <PresentationFormat>Широкоэкранный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Макроэкономический анализ: Узбекистан, Бразилия, Япония</dc:title>
  <dc:subject>Макроэкономический анализ</dc:subject>
  <dc:creator>OpenAI</dc:creator>
  <cp:lastModifiedBy>Сардор Сайфиддинов</cp:lastModifiedBy>
  <cp:revision>4</cp:revision>
  <dcterms:created xsi:type="dcterms:W3CDTF">2026-03-06T20:21:59Z</dcterms:created>
  <dcterms:modified xsi:type="dcterms:W3CDTF">2026-03-06T20:41:02Z</dcterms:modified>
</cp:coreProperties>
</file>